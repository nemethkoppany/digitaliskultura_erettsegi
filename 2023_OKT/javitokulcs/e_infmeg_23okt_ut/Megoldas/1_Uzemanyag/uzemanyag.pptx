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1879263" cy="665956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089887"/>
            <a:ext cx="8909447" cy="2318515"/>
          </a:xfr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497813"/>
            <a:ext cx="8909447" cy="1607852"/>
          </a:xfrm>
        </p:spPr>
        <p:txBody>
          <a:bodyPr/>
          <a:lstStyle>
            <a:lvl1pPr marL="0" indent="0" algn="ctr">
              <a:buNone/>
              <a:defRPr sz="2331"/>
            </a:lvl1pPr>
            <a:lvl2pPr marL="443987" indent="0" algn="ctr">
              <a:buNone/>
              <a:defRPr sz="1942"/>
            </a:lvl2pPr>
            <a:lvl3pPr marL="887974" indent="0" algn="ctr">
              <a:buNone/>
              <a:defRPr sz="1748"/>
            </a:lvl3pPr>
            <a:lvl4pPr marL="1331961" indent="0" algn="ctr">
              <a:buNone/>
              <a:defRPr sz="1554"/>
            </a:lvl4pPr>
            <a:lvl5pPr marL="1775948" indent="0" algn="ctr">
              <a:buNone/>
              <a:defRPr sz="1554"/>
            </a:lvl5pPr>
            <a:lvl6pPr marL="2219935" indent="0" algn="ctr">
              <a:buNone/>
              <a:defRPr sz="1554"/>
            </a:lvl6pPr>
            <a:lvl7pPr marL="2663922" indent="0" algn="ctr">
              <a:buNone/>
              <a:defRPr sz="1554"/>
            </a:lvl7pPr>
            <a:lvl8pPr marL="3107908" indent="0" algn="ctr">
              <a:buNone/>
              <a:defRPr sz="1554"/>
            </a:lvl8pPr>
            <a:lvl9pPr marL="3551895" indent="0" algn="ctr">
              <a:buNone/>
              <a:defRPr sz="1554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016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000" b="1"/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700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660267"/>
            <a:ext cx="10245864" cy="2770193"/>
          </a:xfrm>
        </p:spPr>
        <p:txBody>
          <a:bodyPr anchor="b"/>
          <a:lstStyle>
            <a:lvl1pPr>
              <a:defRPr sz="5827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456667"/>
            <a:ext cx="10245864" cy="1456779"/>
          </a:xfrm>
        </p:spPr>
        <p:txBody>
          <a:bodyPr/>
          <a:lstStyle>
            <a:lvl1pPr marL="0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1pPr>
            <a:lvl2pPr marL="443987" indent="0">
              <a:buNone/>
              <a:defRPr sz="1942">
                <a:solidFill>
                  <a:schemeClr val="tx1">
                    <a:tint val="75000"/>
                  </a:schemeClr>
                </a:solidFill>
              </a:defRPr>
            </a:lvl2pPr>
            <a:lvl3pPr marL="887974" indent="0">
              <a:buNone/>
              <a:defRPr sz="1748">
                <a:solidFill>
                  <a:schemeClr val="tx1">
                    <a:tint val="75000"/>
                  </a:schemeClr>
                </a:solidFill>
              </a:defRPr>
            </a:lvl3pPr>
            <a:lvl4pPr marL="1331961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4pPr>
            <a:lvl5pPr marL="1775948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5pPr>
            <a:lvl6pPr marL="2219935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6pPr>
            <a:lvl7pPr marL="2663922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7pPr>
            <a:lvl8pPr marL="3107908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8pPr>
            <a:lvl9pPr marL="3551895" indent="0">
              <a:buNone/>
              <a:defRPr sz="15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505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772800"/>
            <a:ext cx="5048687" cy="422543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772800"/>
            <a:ext cx="5048687" cy="422543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780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54560"/>
            <a:ext cx="10245864" cy="128720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32518"/>
            <a:ext cx="5025485" cy="800072"/>
          </a:xfrm>
        </p:spPr>
        <p:txBody>
          <a:bodyPr anchor="b"/>
          <a:lstStyle>
            <a:lvl1pPr marL="0" indent="0">
              <a:buNone/>
              <a:defRPr sz="2331" b="1"/>
            </a:lvl1pPr>
            <a:lvl2pPr marL="443987" indent="0">
              <a:buNone/>
              <a:defRPr sz="1942" b="1"/>
            </a:lvl2pPr>
            <a:lvl3pPr marL="887974" indent="0">
              <a:buNone/>
              <a:defRPr sz="1748" b="1"/>
            </a:lvl3pPr>
            <a:lvl4pPr marL="1331961" indent="0">
              <a:buNone/>
              <a:defRPr sz="1554" b="1"/>
            </a:lvl4pPr>
            <a:lvl5pPr marL="1775948" indent="0">
              <a:buNone/>
              <a:defRPr sz="1554" b="1"/>
            </a:lvl5pPr>
            <a:lvl6pPr marL="2219935" indent="0">
              <a:buNone/>
              <a:defRPr sz="1554" b="1"/>
            </a:lvl6pPr>
            <a:lvl7pPr marL="2663922" indent="0">
              <a:buNone/>
              <a:defRPr sz="1554" b="1"/>
            </a:lvl7pPr>
            <a:lvl8pPr marL="3107908" indent="0">
              <a:buNone/>
              <a:defRPr sz="1554" b="1"/>
            </a:lvl8pPr>
            <a:lvl9pPr marL="3551895" indent="0">
              <a:buNone/>
              <a:defRPr sz="155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32590"/>
            <a:ext cx="5025485" cy="357797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32518"/>
            <a:ext cx="5050234" cy="800072"/>
          </a:xfrm>
        </p:spPr>
        <p:txBody>
          <a:bodyPr anchor="b"/>
          <a:lstStyle>
            <a:lvl1pPr marL="0" indent="0">
              <a:buNone/>
              <a:defRPr sz="2331" b="1"/>
            </a:lvl1pPr>
            <a:lvl2pPr marL="443987" indent="0">
              <a:buNone/>
              <a:defRPr sz="1942" b="1"/>
            </a:lvl2pPr>
            <a:lvl3pPr marL="887974" indent="0">
              <a:buNone/>
              <a:defRPr sz="1748" b="1"/>
            </a:lvl3pPr>
            <a:lvl4pPr marL="1331961" indent="0">
              <a:buNone/>
              <a:defRPr sz="1554" b="1"/>
            </a:lvl4pPr>
            <a:lvl5pPr marL="1775948" indent="0">
              <a:buNone/>
              <a:defRPr sz="1554" b="1"/>
            </a:lvl5pPr>
            <a:lvl6pPr marL="2219935" indent="0">
              <a:buNone/>
              <a:defRPr sz="1554" b="1"/>
            </a:lvl6pPr>
            <a:lvl7pPr marL="2663922" indent="0">
              <a:buNone/>
              <a:defRPr sz="1554" b="1"/>
            </a:lvl7pPr>
            <a:lvl8pPr marL="3107908" indent="0">
              <a:buNone/>
              <a:defRPr sz="1554" b="1"/>
            </a:lvl8pPr>
            <a:lvl9pPr marL="3551895" indent="0">
              <a:buNone/>
              <a:defRPr sz="1554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32590"/>
            <a:ext cx="5050234" cy="357797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531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874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217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43971"/>
            <a:ext cx="3831371" cy="1553898"/>
          </a:xfrm>
        </p:spPr>
        <p:txBody>
          <a:bodyPr anchor="b"/>
          <a:lstStyle>
            <a:lvl1pPr>
              <a:defRPr sz="310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58854"/>
            <a:ext cx="6013877" cy="4732606"/>
          </a:xfrm>
        </p:spPr>
        <p:txBody>
          <a:bodyPr/>
          <a:lstStyle>
            <a:lvl1pPr>
              <a:defRPr sz="3108"/>
            </a:lvl1pPr>
            <a:lvl2pPr>
              <a:defRPr sz="2719"/>
            </a:lvl2pPr>
            <a:lvl3pPr>
              <a:defRPr sz="2331"/>
            </a:lvl3pPr>
            <a:lvl4pPr>
              <a:defRPr sz="1942"/>
            </a:lvl4pPr>
            <a:lvl5pPr>
              <a:defRPr sz="1942"/>
            </a:lvl5pPr>
            <a:lvl6pPr>
              <a:defRPr sz="1942"/>
            </a:lvl6pPr>
            <a:lvl7pPr>
              <a:defRPr sz="1942"/>
            </a:lvl7pPr>
            <a:lvl8pPr>
              <a:defRPr sz="1942"/>
            </a:lvl8pPr>
            <a:lvl9pPr>
              <a:defRPr sz="1942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997869"/>
            <a:ext cx="3831371" cy="3701299"/>
          </a:xfrm>
        </p:spPr>
        <p:txBody>
          <a:bodyPr/>
          <a:lstStyle>
            <a:lvl1pPr marL="0" indent="0">
              <a:buNone/>
              <a:defRPr sz="1554"/>
            </a:lvl1pPr>
            <a:lvl2pPr marL="443987" indent="0">
              <a:buNone/>
              <a:defRPr sz="1360"/>
            </a:lvl2pPr>
            <a:lvl3pPr marL="887974" indent="0">
              <a:buNone/>
              <a:defRPr sz="1165"/>
            </a:lvl3pPr>
            <a:lvl4pPr marL="1331961" indent="0">
              <a:buNone/>
              <a:defRPr sz="971"/>
            </a:lvl4pPr>
            <a:lvl5pPr marL="1775948" indent="0">
              <a:buNone/>
              <a:defRPr sz="971"/>
            </a:lvl5pPr>
            <a:lvl6pPr marL="2219935" indent="0">
              <a:buNone/>
              <a:defRPr sz="971"/>
            </a:lvl6pPr>
            <a:lvl7pPr marL="2663922" indent="0">
              <a:buNone/>
              <a:defRPr sz="971"/>
            </a:lvl7pPr>
            <a:lvl8pPr marL="3107908" indent="0">
              <a:buNone/>
              <a:defRPr sz="971"/>
            </a:lvl8pPr>
            <a:lvl9pPr marL="3551895" indent="0">
              <a:buNone/>
              <a:defRPr sz="97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14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43971"/>
            <a:ext cx="3831371" cy="1553898"/>
          </a:xfrm>
        </p:spPr>
        <p:txBody>
          <a:bodyPr anchor="b"/>
          <a:lstStyle>
            <a:lvl1pPr>
              <a:defRPr sz="3108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58854"/>
            <a:ext cx="6013877" cy="4732606"/>
          </a:xfrm>
        </p:spPr>
        <p:txBody>
          <a:bodyPr anchor="t"/>
          <a:lstStyle>
            <a:lvl1pPr marL="0" indent="0">
              <a:buNone/>
              <a:defRPr sz="3108"/>
            </a:lvl1pPr>
            <a:lvl2pPr marL="443987" indent="0">
              <a:buNone/>
              <a:defRPr sz="2719"/>
            </a:lvl2pPr>
            <a:lvl3pPr marL="887974" indent="0">
              <a:buNone/>
              <a:defRPr sz="2331"/>
            </a:lvl3pPr>
            <a:lvl4pPr marL="1331961" indent="0">
              <a:buNone/>
              <a:defRPr sz="1942"/>
            </a:lvl4pPr>
            <a:lvl5pPr marL="1775948" indent="0">
              <a:buNone/>
              <a:defRPr sz="1942"/>
            </a:lvl5pPr>
            <a:lvl6pPr marL="2219935" indent="0">
              <a:buNone/>
              <a:defRPr sz="1942"/>
            </a:lvl6pPr>
            <a:lvl7pPr marL="2663922" indent="0">
              <a:buNone/>
              <a:defRPr sz="1942"/>
            </a:lvl7pPr>
            <a:lvl8pPr marL="3107908" indent="0">
              <a:buNone/>
              <a:defRPr sz="1942"/>
            </a:lvl8pPr>
            <a:lvl9pPr marL="3551895" indent="0">
              <a:buNone/>
              <a:defRPr sz="1942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997869"/>
            <a:ext cx="3831371" cy="3701299"/>
          </a:xfrm>
        </p:spPr>
        <p:txBody>
          <a:bodyPr/>
          <a:lstStyle>
            <a:lvl1pPr marL="0" indent="0">
              <a:buNone/>
              <a:defRPr sz="1554"/>
            </a:lvl1pPr>
            <a:lvl2pPr marL="443987" indent="0">
              <a:buNone/>
              <a:defRPr sz="1360"/>
            </a:lvl2pPr>
            <a:lvl3pPr marL="887974" indent="0">
              <a:buNone/>
              <a:defRPr sz="1165"/>
            </a:lvl3pPr>
            <a:lvl4pPr marL="1331961" indent="0">
              <a:buNone/>
              <a:defRPr sz="971"/>
            </a:lvl4pPr>
            <a:lvl5pPr marL="1775948" indent="0">
              <a:buNone/>
              <a:defRPr sz="971"/>
            </a:lvl5pPr>
            <a:lvl6pPr marL="2219935" indent="0">
              <a:buNone/>
              <a:defRPr sz="971"/>
            </a:lvl6pPr>
            <a:lvl7pPr marL="2663922" indent="0">
              <a:buNone/>
              <a:defRPr sz="971"/>
            </a:lvl7pPr>
            <a:lvl8pPr marL="3107908" indent="0">
              <a:buNone/>
              <a:defRPr sz="971"/>
            </a:lvl8pPr>
            <a:lvl9pPr marL="3551895" indent="0">
              <a:buNone/>
              <a:defRPr sz="97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972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99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54560"/>
            <a:ext cx="2561466" cy="564367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54560"/>
            <a:ext cx="7535907" cy="564367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463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54560"/>
            <a:ext cx="10245864" cy="128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772800"/>
            <a:ext cx="10245864" cy="422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172429"/>
            <a:ext cx="2672834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BB5BD-BC75-4D5A-8370-84758CDA4EC8}" type="datetimeFigureOut">
              <a:rPr lang="hu-HU" smtClean="0"/>
              <a:t>2023.01.25.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172429"/>
            <a:ext cx="4009251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172429"/>
            <a:ext cx="2672834" cy="35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64690-52B1-4E5D-B531-BD65391A271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393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87974" rtl="0" eaLnBrk="1" latinLnBrk="0" hangingPunct="1">
        <a:lnSpc>
          <a:spcPct val="90000"/>
        </a:lnSpc>
        <a:spcBef>
          <a:spcPct val="0"/>
        </a:spcBef>
        <a:buNone/>
        <a:defRPr sz="4273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1993" indent="-221993" algn="l" defTabSz="887974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65980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233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09967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942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3954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97941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41928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6pPr>
      <a:lvl7pPr marL="2885915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7pPr>
      <a:lvl8pPr marL="3329902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8pPr>
      <a:lvl9pPr marL="3773889" indent="-221993" algn="l" defTabSz="887974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1pPr>
      <a:lvl2pPr marL="443987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2pPr>
      <a:lvl3pPr marL="887974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3pPr>
      <a:lvl4pPr marL="1331961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4pPr>
      <a:lvl5pPr marL="1775948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5pPr>
      <a:lvl6pPr marL="2219935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6pPr>
      <a:lvl7pPr marL="2663922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7pPr>
      <a:lvl8pPr marL="3107908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8pPr>
      <a:lvl9pPr marL="3551895" algn="l" defTabSz="887974" rtl="0" eaLnBrk="1" latinLnBrk="0" hangingPunct="1">
        <a:defRPr sz="17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>
            <a:extLst>
              <a:ext uri="{FF2B5EF4-FFF2-40B4-BE49-F238E27FC236}">
                <a16:creationId xmlns:a16="http://schemas.microsoft.com/office/drawing/2014/main" id="{3DDCFB08-F0FD-4B8D-9968-BAA2C323B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5826" y="1280387"/>
            <a:ext cx="10067924" cy="2318515"/>
          </a:xfrm>
        </p:spPr>
        <p:txBody>
          <a:bodyPr/>
          <a:lstStyle/>
          <a:p>
            <a:r>
              <a:rPr lang="hu-HU" b="1" dirty="0"/>
              <a:t>Új európai üzemanyag-jelölések</a:t>
            </a:r>
          </a:p>
        </p:txBody>
      </p:sp>
      <p:sp>
        <p:nvSpPr>
          <p:cNvPr id="7" name="Alcím 6">
            <a:extLst>
              <a:ext uri="{FF2B5EF4-FFF2-40B4-BE49-F238E27FC236}">
                <a16:creationId xmlns:a16="http://schemas.microsoft.com/office/drawing/2014/main" id="{4644ABFD-1835-45F1-9190-3C6D90EEF0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A3B7F00A-A3EB-4DF2-BE0A-EFF7BB10EA3A}"/>
              </a:ext>
            </a:extLst>
          </p:cNvPr>
          <p:cNvSpPr/>
          <p:nvPr/>
        </p:nvSpPr>
        <p:spPr>
          <a:xfrm>
            <a:off x="0" y="1583999"/>
            <a:ext cx="11879263" cy="9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AFD722DA-003B-4F8D-B143-1D59C1B43B5D}"/>
              </a:ext>
            </a:extLst>
          </p:cNvPr>
          <p:cNvSpPr/>
          <p:nvPr/>
        </p:nvSpPr>
        <p:spPr>
          <a:xfrm>
            <a:off x="0" y="4031999"/>
            <a:ext cx="11879263" cy="9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</p:spTree>
    <p:extLst>
      <p:ext uri="{BB962C8B-B14F-4D97-AF65-F5344CB8AC3E}">
        <p14:creationId xmlns:p14="http://schemas.microsoft.com/office/powerpoint/2010/main" val="97279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92CAB5-87F1-40F8-80D8-F4114A0B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Új európai üzemanyag-jelölések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8747A6-A943-413A-8FD1-D99E5E4E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99" y="2771774"/>
            <a:ext cx="11477625" cy="3226457"/>
          </a:xfrm>
        </p:spPr>
        <p:txBody>
          <a:bodyPr/>
          <a:lstStyle/>
          <a:p>
            <a:pPr marL="0" indent="0">
              <a:buNone/>
            </a:pPr>
            <a:r>
              <a:rPr lang="hu-HU" i="1" dirty="0"/>
              <a:t>2018. október 12-től Unió-szerte egységes üzemanyagcímkével kell ellátni a benzinkutak töltőoszlopait és töltőpisztolyait, valamint az új járműveket.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7528F8C2-B65B-42EF-8BD3-8AB0C6611289}"/>
              </a:ext>
            </a:extLst>
          </p:cNvPr>
          <p:cNvSpPr/>
          <p:nvPr/>
        </p:nvSpPr>
        <p:spPr>
          <a:xfrm>
            <a:off x="0" y="1583999"/>
            <a:ext cx="11879263" cy="9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35AD520F-A443-407D-9DBA-9FDD81CFB1EE}"/>
              </a:ext>
            </a:extLst>
          </p:cNvPr>
          <p:cNvSpPr/>
          <p:nvPr/>
        </p:nvSpPr>
        <p:spPr>
          <a:xfrm>
            <a:off x="0" y="4031999"/>
            <a:ext cx="11879263" cy="9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</p:spTree>
    <p:extLst>
      <p:ext uri="{BB962C8B-B14F-4D97-AF65-F5344CB8AC3E}">
        <p14:creationId xmlns:p14="http://schemas.microsoft.com/office/powerpoint/2010/main" val="41056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A3F6C37-8D9A-493A-AE15-EB18D483E821}"/>
              </a:ext>
            </a:extLst>
          </p:cNvPr>
          <p:cNvSpPr txBox="1"/>
          <p:nvPr/>
        </p:nvSpPr>
        <p:spPr>
          <a:xfrm>
            <a:off x="651600" y="653786"/>
            <a:ext cx="6972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72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régi jelölések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F1364719-4418-4AD3-A737-37CB81B69522}"/>
              </a:ext>
            </a:extLst>
          </p:cNvPr>
          <p:cNvSpPr/>
          <p:nvPr/>
        </p:nvSpPr>
        <p:spPr>
          <a:xfrm>
            <a:off x="0" y="1583999"/>
            <a:ext cx="11879263" cy="9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ABF5F44-0515-42E0-97F5-37A8652A0417}"/>
              </a:ext>
            </a:extLst>
          </p:cNvPr>
          <p:cNvSpPr txBox="1"/>
          <p:nvPr/>
        </p:nvSpPr>
        <p:spPr>
          <a:xfrm>
            <a:off x="304800" y="1816084"/>
            <a:ext cx="2209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régi jelölések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6C97B8B5-A421-4776-AFF8-C22ED42FA48E}"/>
              </a:ext>
            </a:extLst>
          </p:cNvPr>
          <p:cNvSpPr/>
          <p:nvPr/>
        </p:nvSpPr>
        <p:spPr>
          <a:xfrm>
            <a:off x="0" y="4031999"/>
            <a:ext cx="11879263" cy="9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DF081540-49E0-4E2A-899F-E299404DC27C}"/>
              </a:ext>
            </a:extLst>
          </p:cNvPr>
          <p:cNvGrpSpPr/>
          <p:nvPr/>
        </p:nvGrpSpPr>
        <p:grpSpPr>
          <a:xfrm>
            <a:off x="2963205" y="1101981"/>
            <a:ext cx="8834443" cy="1800000"/>
            <a:chOff x="2963205" y="1101981"/>
            <a:chExt cx="8834443" cy="1800000"/>
          </a:xfrm>
        </p:grpSpPr>
        <p:grpSp>
          <p:nvGrpSpPr>
            <p:cNvPr id="35" name="Csoportba foglalás 34">
              <a:extLst>
                <a:ext uri="{FF2B5EF4-FFF2-40B4-BE49-F238E27FC236}">
                  <a16:creationId xmlns:a16="http://schemas.microsoft.com/office/drawing/2014/main" id="{48B57871-7DD3-4BB4-8DFE-A172F9DE8185}"/>
                </a:ext>
              </a:extLst>
            </p:cNvPr>
            <p:cNvGrpSpPr/>
            <p:nvPr/>
          </p:nvGrpSpPr>
          <p:grpSpPr>
            <a:xfrm>
              <a:off x="2963205" y="1101981"/>
              <a:ext cx="1800000" cy="1800000"/>
              <a:chOff x="2963205" y="1101981"/>
              <a:chExt cx="1800000" cy="1800000"/>
            </a:xfrm>
          </p:grpSpPr>
          <p:grpSp>
            <p:nvGrpSpPr>
              <p:cNvPr id="34" name="Csoportba foglalás 33">
                <a:extLst>
                  <a:ext uri="{FF2B5EF4-FFF2-40B4-BE49-F238E27FC236}">
                    <a16:creationId xmlns:a16="http://schemas.microsoft.com/office/drawing/2014/main" id="{CB87A46C-317A-4052-A841-9260CFA6EF18}"/>
                  </a:ext>
                </a:extLst>
              </p:cNvPr>
              <p:cNvGrpSpPr/>
              <p:nvPr/>
            </p:nvGrpSpPr>
            <p:grpSpPr>
              <a:xfrm>
                <a:off x="2963205" y="1101981"/>
                <a:ext cx="1800000" cy="1800000"/>
                <a:chOff x="2963205" y="1101981"/>
                <a:chExt cx="1800000" cy="1800000"/>
              </a:xfrm>
            </p:grpSpPr>
            <p:sp>
              <p:nvSpPr>
                <p:cNvPr id="9" name="Ellipszis 8">
                  <a:extLst>
                    <a:ext uri="{FF2B5EF4-FFF2-40B4-BE49-F238E27FC236}">
                      <a16:creationId xmlns:a16="http://schemas.microsoft.com/office/drawing/2014/main" id="{E213A82F-DAB6-4A08-95C9-CE5F21425D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63205" y="1101981"/>
                  <a:ext cx="1800000" cy="1800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13" name="Ellipszis 12">
                  <a:extLst>
                    <a:ext uri="{FF2B5EF4-FFF2-40B4-BE49-F238E27FC236}">
                      <a16:creationId xmlns:a16="http://schemas.microsoft.com/office/drawing/2014/main" id="{E2EAF3CF-13AF-4C02-AE4F-310CEF5F6D15}"/>
                    </a:ext>
                  </a:extLst>
                </p:cNvPr>
                <p:cNvSpPr/>
                <p:nvPr/>
              </p:nvSpPr>
              <p:spPr>
                <a:xfrm>
                  <a:off x="2999205" y="1137981"/>
                  <a:ext cx="1728000" cy="17280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24" name="Szövegdoboz 23">
                <a:extLst>
                  <a:ext uri="{FF2B5EF4-FFF2-40B4-BE49-F238E27FC236}">
                    <a16:creationId xmlns:a16="http://schemas.microsoft.com/office/drawing/2014/main" id="{B66D47E7-C6E7-445F-A655-90DC3B31420B}"/>
                  </a:ext>
                </a:extLst>
              </p:cNvPr>
              <p:cNvSpPr txBox="1"/>
              <p:nvPr/>
            </p:nvSpPr>
            <p:spPr>
              <a:xfrm>
                <a:off x="3291429" y="1583999"/>
                <a:ext cx="11435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98</a:t>
                </a:r>
              </a:p>
            </p:txBody>
          </p:sp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1D46C7FB-2701-4F04-8764-AE7019F22803}"/>
                  </a:ext>
                </a:extLst>
              </p:cNvPr>
              <p:cNvSpPr txBox="1"/>
              <p:nvPr/>
            </p:nvSpPr>
            <p:spPr>
              <a:xfrm>
                <a:off x="3248677" y="1438275"/>
                <a:ext cx="1229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BENZINE</a:t>
                </a:r>
              </a:p>
            </p:txBody>
          </p:sp>
        </p:grpSp>
        <p:grpSp>
          <p:nvGrpSpPr>
            <p:cNvPr id="22" name="Csoportba foglalás 21">
              <a:extLst>
                <a:ext uri="{FF2B5EF4-FFF2-40B4-BE49-F238E27FC236}">
                  <a16:creationId xmlns:a16="http://schemas.microsoft.com/office/drawing/2014/main" id="{384D980E-273E-4A1E-8610-83D13F7C8A72}"/>
                </a:ext>
              </a:extLst>
            </p:cNvPr>
            <p:cNvGrpSpPr/>
            <p:nvPr/>
          </p:nvGrpSpPr>
          <p:grpSpPr>
            <a:xfrm>
              <a:off x="9683098" y="1209981"/>
              <a:ext cx="2114550" cy="1584000"/>
              <a:chOff x="9683098" y="1209981"/>
              <a:chExt cx="2114550" cy="1584000"/>
            </a:xfrm>
          </p:grpSpPr>
          <p:grpSp>
            <p:nvGrpSpPr>
              <p:cNvPr id="8" name="Csoportba foglalás 7">
                <a:extLst>
                  <a:ext uri="{FF2B5EF4-FFF2-40B4-BE49-F238E27FC236}">
                    <a16:creationId xmlns:a16="http://schemas.microsoft.com/office/drawing/2014/main" id="{776A2286-F2ED-4ED0-9B04-A8F085EFC1D5}"/>
                  </a:ext>
                </a:extLst>
              </p:cNvPr>
              <p:cNvGrpSpPr/>
              <p:nvPr/>
            </p:nvGrpSpPr>
            <p:grpSpPr>
              <a:xfrm>
                <a:off x="9821323" y="1209981"/>
                <a:ext cx="1800000" cy="1584000"/>
                <a:chOff x="9821323" y="1209981"/>
                <a:chExt cx="1800000" cy="1584000"/>
              </a:xfrm>
            </p:grpSpPr>
            <p:sp>
              <p:nvSpPr>
                <p:cNvPr id="10" name="Rombusz 9">
                  <a:extLst>
                    <a:ext uri="{FF2B5EF4-FFF2-40B4-BE49-F238E27FC236}">
                      <a16:creationId xmlns:a16="http://schemas.microsoft.com/office/drawing/2014/main" id="{BBBECCBA-6C90-4E93-B60D-DD604D77E644}"/>
                    </a:ext>
                  </a:extLst>
                </p:cNvPr>
                <p:cNvSpPr/>
                <p:nvPr/>
              </p:nvSpPr>
              <p:spPr>
                <a:xfrm>
                  <a:off x="9821323" y="1209981"/>
                  <a:ext cx="1800000" cy="1584000"/>
                </a:xfrm>
                <a:prstGeom prst="diamond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21" name="Rombusz 20">
                  <a:extLst>
                    <a:ext uri="{FF2B5EF4-FFF2-40B4-BE49-F238E27FC236}">
                      <a16:creationId xmlns:a16="http://schemas.microsoft.com/office/drawing/2014/main" id="{4862E726-F6F5-4716-A7CB-EE52F02F7D04}"/>
                    </a:ext>
                  </a:extLst>
                </p:cNvPr>
                <p:cNvSpPr/>
                <p:nvPr/>
              </p:nvSpPr>
              <p:spPr>
                <a:xfrm>
                  <a:off x="9857323" y="1245981"/>
                  <a:ext cx="1728000" cy="1512000"/>
                </a:xfrm>
                <a:prstGeom prst="diamond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 dirty="0"/>
                </a:p>
              </p:txBody>
            </p:sp>
          </p:grpSp>
          <p:sp>
            <p:nvSpPr>
              <p:cNvPr id="27" name="Szövegdoboz 26">
                <a:extLst>
                  <a:ext uri="{FF2B5EF4-FFF2-40B4-BE49-F238E27FC236}">
                    <a16:creationId xmlns:a16="http://schemas.microsoft.com/office/drawing/2014/main" id="{C06AAC21-4BE9-4F98-BE4D-B17448B3601F}"/>
                  </a:ext>
                </a:extLst>
              </p:cNvPr>
              <p:cNvSpPr txBox="1"/>
              <p:nvPr/>
            </p:nvSpPr>
            <p:spPr>
              <a:xfrm>
                <a:off x="9683098" y="1588453"/>
                <a:ext cx="21145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4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LPG</a:t>
                </a:r>
              </a:p>
            </p:txBody>
          </p:sp>
        </p:grpSp>
        <p:grpSp>
          <p:nvGrpSpPr>
            <p:cNvPr id="7" name="Csoportba foglalás 6">
              <a:extLst>
                <a:ext uri="{FF2B5EF4-FFF2-40B4-BE49-F238E27FC236}">
                  <a16:creationId xmlns:a16="http://schemas.microsoft.com/office/drawing/2014/main" id="{3080F8E7-26F8-483A-83E3-3507EA26C2A9}"/>
                </a:ext>
              </a:extLst>
            </p:cNvPr>
            <p:cNvGrpSpPr/>
            <p:nvPr/>
          </p:nvGrpSpPr>
          <p:grpSpPr>
            <a:xfrm>
              <a:off x="7443133" y="1101981"/>
              <a:ext cx="1800000" cy="1800000"/>
              <a:chOff x="7443133" y="1101981"/>
              <a:chExt cx="1800000" cy="1800000"/>
            </a:xfrm>
          </p:grpSpPr>
          <p:grpSp>
            <p:nvGrpSpPr>
              <p:cNvPr id="6" name="Csoportba foglalás 5">
                <a:extLst>
                  <a:ext uri="{FF2B5EF4-FFF2-40B4-BE49-F238E27FC236}">
                    <a16:creationId xmlns:a16="http://schemas.microsoft.com/office/drawing/2014/main" id="{FC75A43A-DE9A-4205-9046-922D8A118DC2}"/>
                  </a:ext>
                </a:extLst>
              </p:cNvPr>
              <p:cNvGrpSpPr/>
              <p:nvPr/>
            </p:nvGrpSpPr>
            <p:grpSpPr>
              <a:xfrm>
                <a:off x="7443133" y="1101981"/>
                <a:ext cx="1800000" cy="1800000"/>
                <a:chOff x="7443133" y="1101981"/>
                <a:chExt cx="1800000" cy="1800000"/>
              </a:xfrm>
            </p:grpSpPr>
            <p:sp>
              <p:nvSpPr>
                <p:cNvPr id="19" name="Ellipszis 18">
                  <a:extLst>
                    <a:ext uri="{FF2B5EF4-FFF2-40B4-BE49-F238E27FC236}">
                      <a16:creationId xmlns:a16="http://schemas.microsoft.com/office/drawing/2014/main" id="{8060F690-6238-49D3-BE5B-7DF0908147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43133" y="1101981"/>
                  <a:ext cx="1800000" cy="1800000"/>
                </a:xfrm>
                <a:prstGeom prst="ellipse">
                  <a:avLst/>
                </a:prstGeom>
                <a:solidFill>
                  <a:srgbClr val="FFFF00"/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20" name="Ellipszis 19">
                  <a:extLst>
                    <a:ext uri="{FF2B5EF4-FFF2-40B4-BE49-F238E27FC236}">
                      <a16:creationId xmlns:a16="http://schemas.microsoft.com/office/drawing/2014/main" id="{DEA45AAD-9F62-457E-A8D4-2C113ED33E39}"/>
                    </a:ext>
                  </a:extLst>
                </p:cNvPr>
                <p:cNvSpPr/>
                <p:nvPr/>
              </p:nvSpPr>
              <p:spPr>
                <a:xfrm>
                  <a:off x="7479133" y="1137981"/>
                  <a:ext cx="1728000" cy="17280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29" name="Szövegdoboz 28">
                <a:extLst>
                  <a:ext uri="{FF2B5EF4-FFF2-40B4-BE49-F238E27FC236}">
                    <a16:creationId xmlns:a16="http://schemas.microsoft.com/office/drawing/2014/main" id="{852178C5-9AED-42B4-9DBA-C13EB8FABDC2}"/>
                  </a:ext>
                </a:extLst>
              </p:cNvPr>
              <p:cNvSpPr txBox="1"/>
              <p:nvPr/>
            </p:nvSpPr>
            <p:spPr>
              <a:xfrm>
                <a:off x="7535614" y="1481630"/>
                <a:ext cx="161503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DIESEL 10S</a:t>
                </a:r>
              </a:p>
            </p:txBody>
          </p:sp>
        </p:grpSp>
        <p:grpSp>
          <p:nvGrpSpPr>
            <p:cNvPr id="3" name="Csoportba foglalás 2">
              <a:extLst>
                <a:ext uri="{FF2B5EF4-FFF2-40B4-BE49-F238E27FC236}">
                  <a16:creationId xmlns:a16="http://schemas.microsoft.com/office/drawing/2014/main" id="{2C2070DF-BC11-4149-B051-B2B73741174A}"/>
                </a:ext>
              </a:extLst>
            </p:cNvPr>
            <p:cNvGrpSpPr/>
            <p:nvPr/>
          </p:nvGrpSpPr>
          <p:grpSpPr>
            <a:xfrm>
              <a:off x="5203169" y="1101981"/>
              <a:ext cx="1800000" cy="1800000"/>
              <a:chOff x="5203169" y="1101981"/>
              <a:chExt cx="1800000" cy="1800000"/>
            </a:xfrm>
          </p:grpSpPr>
          <p:grpSp>
            <p:nvGrpSpPr>
              <p:cNvPr id="2" name="Csoportba foglalás 1">
                <a:extLst>
                  <a:ext uri="{FF2B5EF4-FFF2-40B4-BE49-F238E27FC236}">
                    <a16:creationId xmlns:a16="http://schemas.microsoft.com/office/drawing/2014/main" id="{8AFA9B41-2556-4082-9C8C-52E4E36418D5}"/>
                  </a:ext>
                </a:extLst>
              </p:cNvPr>
              <p:cNvGrpSpPr/>
              <p:nvPr/>
            </p:nvGrpSpPr>
            <p:grpSpPr>
              <a:xfrm>
                <a:off x="5203169" y="1101981"/>
                <a:ext cx="1800000" cy="1800000"/>
                <a:chOff x="5203169" y="1101981"/>
                <a:chExt cx="1800000" cy="1800000"/>
              </a:xfrm>
            </p:grpSpPr>
            <p:sp>
              <p:nvSpPr>
                <p:cNvPr id="16" name="Ellipszis 15">
                  <a:extLst>
                    <a:ext uri="{FF2B5EF4-FFF2-40B4-BE49-F238E27FC236}">
                      <a16:creationId xmlns:a16="http://schemas.microsoft.com/office/drawing/2014/main" id="{972C2A2C-4086-41CE-BA61-0D2EEB1E08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203169" y="1101981"/>
                  <a:ext cx="1800000" cy="1800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17" name="Ellipszis 16">
                  <a:extLst>
                    <a:ext uri="{FF2B5EF4-FFF2-40B4-BE49-F238E27FC236}">
                      <a16:creationId xmlns:a16="http://schemas.microsoft.com/office/drawing/2014/main" id="{D1BFD62D-4BFE-49E5-B51E-104EFEFE1453}"/>
                    </a:ext>
                  </a:extLst>
                </p:cNvPr>
                <p:cNvSpPr/>
                <p:nvPr/>
              </p:nvSpPr>
              <p:spPr>
                <a:xfrm>
                  <a:off x="5239169" y="1137981"/>
                  <a:ext cx="1728000" cy="17280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31" name="Szövegdoboz 30">
                <a:extLst>
                  <a:ext uri="{FF2B5EF4-FFF2-40B4-BE49-F238E27FC236}">
                    <a16:creationId xmlns:a16="http://schemas.microsoft.com/office/drawing/2014/main" id="{328EFB6C-1B9F-4506-9662-6C2DDC2592FC}"/>
                  </a:ext>
                </a:extLst>
              </p:cNvPr>
              <p:cNvSpPr txBox="1"/>
              <p:nvPr/>
            </p:nvSpPr>
            <p:spPr>
              <a:xfrm>
                <a:off x="5531393" y="1955474"/>
                <a:ext cx="11435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4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E10</a:t>
                </a:r>
              </a:p>
            </p:txBody>
          </p:sp>
          <p:sp>
            <p:nvSpPr>
              <p:cNvPr id="32" name="Szövegdoboz 31">
                <a:extLst>
                  <a:ext uri="{FF2B5EF4-FFF2-40B4-BE49-F238E27FC236}">
                    <a16:creationId xmlns:a16="http://schemas.microsoft.com/office/drawing/2014/main" id="{A3DB36C6-5F70-44E2-8424-3F444E138D9E}"/>
                  </a:ext>
                </a:extLst>
              </p:cNvPr>
              <p:cNvSpPr txBox="1"/>
              <p:nvPr/>
            </p:nvSpPr>
            <p:spPr>
              <a:xfrm>
                <a:off x="5488641" y="1362075"/>
                <a:ext cx="122905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BENZINE</a:t>
                </a:r>
              </a:p>
              <a:p>
                <a:pPr algn="ctr"/>
                <a:r>
                  <a:rPr lang="hu-HU" sz="2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152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zövegdoboz 33">
            <a:extLst>
              <a:ext uri="{FF2B5EF4-FFF2-40B4-BE49-F238E27FC236}">
                <a16:creationId xmlns:a16="http://schemas.microsoft.com/office/drawing/2014/main" id="{9A461FF8-A55A-4778-A762-05C478777A8E}"/>
              </a:ext>
            </a:extLst>
          </p:cNvPr>
          <p:cNvSpPr txBox="1"/>
          <p:nvPr/>
        </p:nvSpPr>
        <p:spPr>
          <a:xfrm>
            <a:off x="651600" y="3087905"/>
            <a:ext cx="6972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72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 jelölések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A3F6C37-8D9A-493A-AE15-EB18D483E821}"/>
              </a:ext>
            </a:extLst>
          </p:cNvPr>
          <p:cNvSpPr txBox="1"/>
          <p:nvPr/>
        </p:nvSpPr>
        <p:spPr>
          <a:xfrm>
            <a:off x="651600" y="653786"/>
            <a:ext cx="6972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72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régi jelölések</a:t>
            </a:r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F1364719-4418-4AD3-A737-37CB81B69522}"/>
              </a:ext>
            </a:extLst>
          </p:cNvPr>
          <p:cNvSpPr/>
          <p:nvPr/>
        </p:nvSpPr>
        <p:spPr>
          <a:xfrm>
            <a:off x="0" y="1583999"/>
            <a:ext cx="11879263" cy="9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ABF5F44-0515-42E0-97F5-37A8652A0417}"/>
              </a:ext>
            </a:extLst>
          </p:cNvPr>
          <p:cNvSpPr txBox="1"/>
          <p:nvPr/>
        </p:nvSpPr>
        <p:spPr>
          <a:xfrm>
            <a:off x="304800" y="1816084"/>
            <a:ext cx="2209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régi jelölések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6C97B8B5-A421-4776-AFF8-C22ED42FA48E}"/>
              </a:ext>
            </a:extLst>
          </p:cNvPr>
          <p:cNvSpPr/>
          <p:nvPr/>
        </p:nvSpPr>
        <p:spPr>
          <a:xfrm>
            <a:off x="0" y="4031999"/>
            <a:ext cx="11879263" cy="9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sz="1752"/>
          </a:p>
        </p:txBody>
      </p: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4EC69009-8F26-4D74-A996-379E508C0716}"/>
              </a:ext>
            </a:extLst>
          </p:cNvPr>
          <p:cNvGrpSpPr/>
          <p:nvPr/>
        </p:nvGrpSpPr>
        <p:grpSpPr>
          <a:xfrm>
            <a:off x="2997567" y="3616352"/>
            <a:ext cx="1800000" cy="1800000"/>
            <a:chOff x="3031930" y="3616352"/>
            <a:chExt cx="1800000" cy="1800000"/>
          </a:xfrm>
        </p:grpSpPr>
        <p:sp>
          <p:nvSpPr>
            <p:cNvPr id="39" name="Ellipszis 38">
              <a:extLst>
                <a:ext uri="{FF2B5EF4-FFF2-40B4-BE49-F238E27FC236}">
                  <a16:creationId xmlns:a16="http://schemas.microsoft.com/office/drawing/2014/main" id="{0426EFBD-05B8-48EA-97CB-D9811E2086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1930" y="3616352"/>
              <a:ext cx="1800000" cy="1800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Szövegdoboz 36">
              <a:extLst>
                <a:ext uri="{FF2B5EF4-FFF2-40B4-BE49-F238E27FC236}">
                  <a16:creationId xmlns:a16="http://schemas.microsoft.com/office/drawing/2014/main" id="{4E2E042B-C34F-45F6-8A18-71B7E4007235}"/>
                </a:ext>
              </a:extLst>
            </p:cNvPr>
            <p:cNvSpPr txBox="1"/>
            <p:nvPr/>
          </p:nvSpPr>
          <p:spPr>
            <a:xfrm>
              <a:off x="3267025" y="3962354"/>
              <a:ext cx="132981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600" b="1" dirty="0">
                  <a:latin typeface="Arial" panose="020B0604020202020204" pitchFamily="34" charset="0"/>
                  <a:cs typeface="Arial" panose="020B0604020202020204" pitchFamily="34" charset="0"/>
                </a:rPr>
                <a:t>E5</a:t>
              </a:r>
            </a:p>
          </p:txBody>
        </p:sp>
      </p:grpSp>
      <p:sp>
        <p:nvSpPr>
          <p:cNvPr id="41" name="Ellipszis 40">
            <a:extLst>
              <a:ext uri="{FF2B5EF4-FFF2-40B4-BE49-F238E27FC236}">
                <a16:creationId xmlns:a16="http://schemas.microsoft.com/office/drawing/2014/main" id="{AC7C64A4-1B8B-4F2A-8A47-567592E134FE}"/>
              </a:ext>
            </a:extLst>
          </p:cNvPr>
          <p:cNvSpPr>
            <a:spLocks noChangeAspect="1"/>
          </p:cNvSpPr>
          <p:nvPr/>
        </p:nvSpPr>
        <p:spPr>
          <a:xfrm>
            <a:off x="5258511" y="3616352"/>
            <a:ext cx="1800000" cy="18000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CEBC0BC4-656B-4B2C-A17C-EDA5B5663380}"/>
              </a:ext>
            </a:extLst>
          </p:cNvPr>
          <p:cNvSpPr txBox="1"/>
          <p:nvPr/>
        </p:nvSpPr>
        <p:spPr>
          <a:xfrm>
            <a:off x="5276511" y="3962354"/>
            <a:ext cx="176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>
                <a:latin typeface="Arial" panose="020B0604020202020204" pitchFamily="34" charset="0"/>
                <a:cs typeface="Arial" panose="020B0604020202020204" pitchFamily="34" charset="0"/>
              </a:rPr>
              <a:t>E10</a:t>
            </a:r>
          </a:p>
        </p:txBody>
      </p:sp>
      <p:sp>
        <p:nvSpPr>
          <p:cNvPr id="22" name="Nyíl: lefelé mutató 21">
            <a:extLst>
              <a:ext uri="{FF2B5EF4-FFF2-40B4-BE49-F238E27FC236}">
                <a16:creationId xmlns:a16="http://schemas.microsoft.com/office/drawing/2014/main" id="{9BE4E47C-7344-42E0-9078-5E8BBAD45FB8}"/>
              </a:ext>
            </a:extLst>
          </p:cNvPr>
          <p:cNvSpPr/>
          <p:nvPr/>
        </p:nvSpPr>
        <p:spPr>
          <a:xfrm>
            <a:off x="3663567" y="2922984"/>
            <a:ext cx="468000" cy="648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F3FAE4A7-B8B3-4E8D-BE4C-0A122E407157}"/>
              </a:ext>
            </a:extLst>
          </p:cNvPr>
          <p:cNvSpPr txBox="1"/>
          <p:nvPr/>
        </p:nvSpPr>
        <p:spPr>
          <a:xfrm>
            <a:off x="161925" y="4264084"/>
            <a:ext cx="2209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 jelölések</a:t>
            </a:r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157D55B6-D728-4971-83C9-96665BCDED23}"/>
              </a:ext>
            </a:extLst>
          </p:cNvPr>
          <p:cNvGrpSpPr/>
          <p:nvPr/>
        </p:nvGrpSpPr>
        <p:grpSpPr>
          <a:xfrm>
            <a:off x="9683098" y="3724352"/>
            <a:ext cx="2114550" cy="1584000"/>
            <a:chOff x="9835498" y="3715056"/>
            <a:chExt cx="2114550" cy="1584000"/>
          </a:xfrm>
        </p:grpSpPr>
        <p:sp>
          <p:nvSpPr>
            <p:cNvPr id="47" name="Rombusz 46">
              <a:extLst>
                <a:ext uri="{FF2B5EF4-FFF2-40B4-BE49-F238E27FC236}">
                  <a16:creationId xmlns:a16="http://schemas.microsoft.com/office/drawing/2014/main" id="{B490DEF3-53AB-4A24-BEF2-80FF583FC0F2}"/>
                </a:ext>
              </a:extLst>
            </p:cNvPr>
            <p:cNvSpPr/>
            <p:nvPr/>
          </p:nvSpPr>
          <p:spPr>
            <a:xfrm>
              <a:off x="9973723" y="3715056"/>
              <a:ext cx="1800000" cy="1584000"/>
            </a:xfrm>
            <a:prstGeom prst="diamond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00A57740-1A4B-4613-8482-F66D617517F4}"/>
                </a:ext>
              </a:extLst>
            </p:cNvPr>
            <p:cNvSpPr txBox="1"/>
            <p:nvPr/>
          </p:nvSpPr>
          <p:spPr>
            <a:xfrm>
              <a:off x="9835498" y="4093528"/>
              <a:ext cx="21145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LPG</a:t>
              </a:r>
            </a:p>
          </p:txBody>
        </p:sp>
      </p:grp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B5AA1332-3C44-4052-80A6-0D08AAEEBA01}"/>
              </a:ext>
            </a:extLst>
          </p:cNvPr>
          <p:cNvGrpSpPr/>
          <p:nvPr/>
        </p:nvGrpSpPr>
        <p:grpSpPr>
          <a:xfrm>
            <a:off x="7485092" y="3616352"/>
            <a:ext cx="1800000" cy="1800000"/>
            <a:chOff x="7485092" y="3616352"/>
            <a:chExt cx="1800000" cy="1800000"/>
          </a:xfrm>
        </p:grpSpPr>
        <p:sp>
          <p:nvSpPr>
            <p:cNvPr id="3" name="Téglalap: lekerekített 2">
              <a:extLst>
                <a:ext uri="{FF2B5EF4-FFF2-40B4-BE49-F238E27FC236}">
                  <a16:creationId xmlns:a16="http://schemas.microsoft.com/office/drawing/2014/main" id="{92037026-75D8-4912-B7D9-C896FB78CAB6}"/>
                </a:ext>
              </a:extLst>
            </p:cNvPr>
            <p:cNvSpPr/>
            <p:nvPr/>
          </p:nvSpPr>
          <p:spPr>
            <a:xfrm>
              <a:off x="7485092" y="3616352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8D749C51-6601-46F4-BE96-345732C647AE}"/>
                </a:ext>
              </a:extLst>
            </p:cNvPr>
            <p:cNvSpPr txBox="1"/>
            <p:nvPr/>
          </p:nvSpPr>
          <p:spPr>
            <a:xfrm>
              <a:off x="7663623" y="3962354"/>
              <a:ext cx="144293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6600" b="1" dirty="0">
                  <a:latin typeface="Arial" panose="020B0604020202020204" pitchFamily="34" charset="0"/>
                  <a:cs typeface="Arial" panose="020B0604020202020204" pitchFamily="34" charset="0"/>
                </a:rPr>
                <a:t>B7</a:t>
              </a:r>
            </a:p>
          </p:txBody>
        </p:sp>
      </p:grpSp>
      <p:sp>
        <p:nvSpPr>
          <p:cNvPr id="50" name="Nyíl: lefelé mutató 49">
            <a:extLst>
              <a:ext uri="{FF2B5EF4-FFF2-40B4-BE49-F238E27FC236}">
                <a16:creationId xmlns:a16="http://schemas.microsoft.com/office/drawing/2014/main" id="{5F348838-68E8-4FDE-8356-48C69664ABF8}"/>
              </a:ext>
            </a:extLst>
          </p:cNvPr>
          <p:cNvSpPr/>
          <p:nvPr/>
        </p:nvSpPr>
        <p:spPr>
          <a:xfrm>
            <a:off x="5907329" y="2922984"/>
            <a:ext cx="468000" cy="648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1" name="Nyíl: lefelé mutató 50">
            <a:extLst>
              <a:ext uri="{FF2B5EF4-FFF2-40B4-BE49-F238E27FC236}">
                <a16:creationId xmlns:a16="http://schemas.microsoft.com/office/drawing/2014/main" id="{4FA64731-262A-4F80-8934-296A52ECB655}"/>
              </a:ext>
            </a:extLst>
          </p:cNvPr>
          <p:cNvSpPr/>
          <p:nvPr/>
        </p:nvSpPr>
        <p:spPr>
          <a:xfrm>
            <a:off x="8151092" y="2902525"/>
            <a:ext cx="468000" cy="648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Nyíl: lefelé mutató 51">
            <a:extLst>
              <a:ext uri="{FF2B5EF4-FFF2-40B4-BE49-F238E27FC236}">
                <a16:creationId xmlns:a16="http://schemas.microsoft.com/office/drawing/2014/main" id="{058ACAF3-CDCE-47F0-BB71-51E92F81FAAE}"/>
              </a:ext>
            </a:extLst>
          </p:cNvPr>
          <p:cNvSpPr/>
          <p:nvPr/>
        </p:nvSpPr>
        <p:spPr>
          <a:xfrm>
            <a:off x="10506373" y="2951999"/>
            <a:ext cx="468000" cy="648000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66191FBC-4F81-475E-A670-D1D3D41F4918}"/>
              </a:ext>
            </a:extLst>
          </p:cNvPr>
          <p:cNvGrpSpPr/>
          <p:nvPr/>
        </p:nvGrpSpPr>
        <p:grpSpPr>
          <a:xfrm>
            <a:off x="2963205" y="1101981"/>
            <a:ext cx="8834443" cy="1800000"/>
            <a:chOff x="2963205" y="1101981"/>
            <a:chExt cx="8834443" cy="1800000"/>
          </a:xfrm>
        </p:grpSpPr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877C3F4-2D62-4B9E-A5F7-707EF5C906E5}"/>
                </a:ext>
              </a:extLst>
            </p:cNvPr>
            <p:cNvGrpSpPr/>
            <p:nvPr/>
          </p:nvGrpSpPr>
          <p:grpSpPr>
            <a:xfrm>
              <a:off x="2963205" y="1101981"/>
              <a:ext cx="1800000" cy="1800000"/>
              <a:chOff x="2963205" y="1101981"/>
              <a:chExt cx="1800000" cy="1800000"/>
            </a:xfrm>
          </p:grpSpPr>
          <p:grpSp>
            <p:nvGrpSpPr>
              <p:cNvPr id="69" name="Csoportba foglalás 68">
                <a:extLst>
                  <a:ext uri="{FF2B5EF4-FFF2-40B4-BE49-F238E27FC236}">
                    <a16:creationId xmlns:a16="http://schemas.microsoft.com/office/drawing/2014/main" id="{E9799C90-11F1-4BCA-AA79-56B2098A26F2}"/>
                  </a:ext>
                </a:extLst>
              </p:cNvPr>
              <p:cNvGrpSpPr/>
              <p:nvPr/>
            </p:nvGrpSpPr>
            <p:grpSpPr>
              <a:xfrm>
                <a:off x="2963205" y="1101981"/>
                <a:ext cx="1800000" cy="1800000"/>
                <a:chOff x="2963205" y="1101981"/>
                <a:chExt cx="1800000" cy="1800000"/>
              </a:xfrm>
            </p:grpSpPr>
            <p:sp>
              <p:nvSpPr>
                <p:cNvPr id="72" name="Ellipszis 71">
                  <a:extLst>
                    <a:ext uri="{FF2B5EF4-FFF2-40B4-BE49-F238E27FC236}">
                      <a16:creationId xmlns:a16="http://schemas.microsoft.com/office/drawing/2014/main" id="{9D436812-3C7E-4582-9077-3133498285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63205" y="1101981"/>
                  <a:ext cx="1800000" cy="1800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73" name="Ellipszis 72">
                  <a:extLst>
                    <a:ext uri="{FF2B5EF4-FFF2-40B4-BE49-F238E27FC236}">
                      <a16:creationId xmlns:a16="http://schemas.microsoft.com/office/drawing/2014/main" id="{57E90407-F1F1-4A65-BB92-383B17254CEC}"/>
                    </a:ext>
                  </a:extLst>
                </p:cNvPr>
                <p:cNvSpPr/>
                <p:nvPr/>
              </p:nvSpPr>
              <p:spPr>
                <a:xfrm>
                  <a:off x="2999205" y="1137981"/>
                  <a:ext cx="1728000" cy="17280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70" name="Szövegdoboz 69">
                <a:extLst>
                  <a:ext uri="{FF2B5EF4-FFF2-40B4-BE49-F238E27FC236}">
                    <a16:creationId xmlns:a16="http://schemas.microsoft.com/office/drawing/2014/main" id="{E6859D8D-071C-4437-AC49-0D3E3DE54C80}"/>
                  </a:ext>
                </a:extLst>
              </p:cNvPr>
              <p:cNvSpPr txBox="1"/>
              <p:nvPr/>
            </p:nvSpPr>
            <p:spPr>
              <a:xfrm>
                <a:off x="3291429" y="1583999"/>
                <a:ext cx="11435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6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98</a:t>
                </a:r>
              </a:p>
            </p:txBody>
          </p:sp>
          <p:sp>
            <p:nvSpPr>
              <p:cNvPr id="71" name="Szövegdoboz 70">
                <a:extLst>
                  <a:ext uri="{FF2B5EF4-FFF2-40B4-BE49-F238E27FC236}">
                    <a16:creationId xmlns:a16="http://schemas.microsoft.com/office/drawing/2014/main" id="{4B31B88E-90FF-47AF-AEA4-71CC3F4A5E23}"/>
                  </a:ext>
                </a:extLst>
              </p:cNvPr>
              <p:cNvSpPr txBox="1"/>
              <p:nvPr/>
            </p:nvSpPr>
            <p:spPr>
              <a:xfrm>
                <a:off x="3248677" y="1438275"/>
                <a:ext cx="1229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BENZINE</a:t>
                </a:r>
              </a:p>
            </p:txBody>
          </p:sp>
        </p:grpSp>
        <p:grpSp>
          <p:nvGrpSpPr>
            <p:cNvPr id="53" name="Csoportba foglalás 52">
              <a:extLst>
                <a:ext uri="{FF2B5EF4-FFF2-40B4-BE49-F238E27FC236}">
                  <a16:creationId xmlns:a16="http://schemas.microsoft.com/office/drawing/2014/main" id="{E446162A-4A7C-428A-A334-8221290747CA}"/>
                </a:ext>
              </a:extLst>
            </p:cNvPr>
            <p:cNvGrpSpPr/>
            <p:nvPr/>
          </p:nvGrpSpPr>
          <p:grpSpPr>
            <a:xfrm>
              <a:off x="9683098" y="1209981"/>
              <a:ext cx="2114550" cy="1584000"/>
              <a:chOff x="9683098" y="1209981"/>
              <a:chExt cx="2114550" cy="1584000"/>
            </a:xfrm>
          </p:grpSpPr>
          <p:grpSp>
            <p:nvGrpSpPr>
              <p:cNvPr id="65" name="Csoportba foglalás 64">
                <a:extLst>
                  <a:ext uri="{FF2B5EF4-FFF2-40B4-BE49-F238E27FC236}">
                    <a16:creationId xmlns:a16="http://schemas.microsoft.com/office/drawing/2014/main" id="{A08BEFA6-438A-491A-8F66-E175A0AB6083}"/>
                  </a:ext>
                </a:extLst>
              </p:cNvPr>
              <p:cNvGrpSpPr/>
              <p:nvPr/>
            </p:nvGrpSpPr>
            <p:grpSpPr>
              <a:xfrm>
                <a:off x="9821323" y="1209981"/>
                <a:ext cx="1800000" cy="1584000"/>
                <a:chOff x="9821323" y="1209981"/>
                <a:chExt cx="1800000" cy="1584000"/>
              </a:xfrm>
            </p:grpSpPr>
            <p:sp>
              <p:nvSpPr>
                <p:cNvPr id="67" name="Rombusz 66">
                  <a:extLst>
                    <a:ext uri="{FF2B5EF4-FFF2-40B4-BE49-F238E27FC236}">
                      <a16:creationId xmlns:a16="http://schemas.microsoft.com/office/drawing/2014/main" id="{FB0A0D77-4F95-410C-A95A-8A8EFA5D1997}"/>
                    </a:ext>
                  </a:extLst>
                </p:cNvPr>
                <p:cNvSpPr/>
                <p:nvPr/>
              </p:nvSpPr>
              <p:spPr>
                <a:xfrm>
                  <a:off x="9821323" y="1209981"/>
                  <a:ext cx="1800000" cy="1584000"/>
                </a:xfrm>
                <a:prstGeom prst="diamond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68" name="Rombusz 67">
                  <a:extLst>
                    <a:ext uri="{FF2B5EF4-FFF2-40B4-BE49-F238E27FC236}">
                      <a16:creationId xmlns:a16="http://schemas.microsoft.com/office/drawing/2014/main" id="{4BBAB159-9860-4F50-BA5D-C226C74BF3F7}"/>
                    </a:ext>
                  </a:extLst>
                </p:cNvPr>
                <p:cNvSpPr/>
                <p:nvPr/>
              </p:nvSpPr>
              <p:spPr>
                <a:xfrm>
                  <a:off x="9857323" y="1245981"/>
                  <a:ext cx="1728000" cy="1512000"/>
                </a:xfrm>
                <a:prstGeom prst="diamond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66" name="Szövegdoboz 65">
                <a:extLst>
                  <a:ext uri="{FF2B5EF4-FFF2-40B4-BE49-F238E27FC236}">
                    <a16:creationId xmlns:a16="http://schemas.microsoft.com/office/drawing/2014/main" id="{E1BDED04-A786-4702-85A8-5B55DB076A34}"/>
                  </a:ext>
                </a:extLst>
              </p:cNvPr>
              <p:cNvSpPr txBox="1"/>
              <p:nvPr/>
            </p:nvSpPr>
            <p:spPr>
              <a:xfrm>
                <a:off x="9683098" y="1588453"/>
                <a:ext cx="21145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4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LPG</a:t>
                </a:r>
              </a:p>
            </p:txBody>
          </p:sp>
        </p:grpSp>
        <p:grpSp>
          <p:nvGrpSpPr>
            <p:cNvPr id="54" name="Csoportba foglalás 53">
              <a:extLst>
                <a:ext uri="{FF2B5EF4-FFF2-40B4-BE49-F238E27FC236}">
                  <a16:creationId xmlns:a16="http://schemas.microsoft.com/office/drawing/2014/main" id="{94ACF943-3DE4-4419-88B8-9A7E9EAAFE0C}"/>
                </a:ext>
              </a:extLst>
            </p:cNvPr>
            <p:cNvGrpSpPr/>
            <p:nvPr/>
          </p:nvGrpSpPr>
          <p:grpSpPr>
            <a:xfrm>
              <a:off x="7443133" y="1101981"/>
              <a:ext cx="1800000" cy="1800000"/>
              <a:chOff x="7443133" y="1101981"/>
              <a:chExt cx="1800000" cy="1800000"/>
            </a:xfrm>
          </p:grpSpPr>
          <p:grpSp>
            <p:nvGrpSpPr>
              <p:cNvPr id="61" name="Csoportba foglalás 60">
                <a:extLst>
                  <a:ext uri="{FF2B5EF4-FFF2-40B4-BE49-F238E27FC236}">
                    <a16:creationId xmlns:a16="http://schemas.microsoft.com/office/drawing/2014/main" id="{5AC50B1A-39C3-4F1A-8B4B-0AB0FF578DF6}"/>
                  </a:ext>
                </a:extLst>
              </p:cNvPr>
              <p:cNvGrpSpPr/>
              <p:nvPr/>
            </p:nvGrpSpPr>
            <p:grpSpPr>
              <a:xfrm>
                <a:off x="7443133" y="1101981"/>
                <a:ext cx="1800000" cy="1800000"/>
                <a:chOff x="7443133" y="1101981"/>
                <a:chExt cx="1800000" cy="1800000"/>
              </a:xfrm>
            </p:grpSpPr>
            <p:sp>
              <p:nvSpPr>
                <p:cNvPr id="63" name="Ellipszis 62">
                  <a:extLst>
                    <a:ext uri="{FF2B5EF4-FFF2-40B4-BE49-F238E27FC236}">
                      <a16:creationId xmlns:a16="http://schemas.microsoft.com/office/drawing/2014/main" id="{D77BC804-8823-4245-B11E-DF65EAECEF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43133" y="1101981"/>
                  <a:ext cx="1800000" cy="1800000"/>
                </a:xfrm>
                <a:prstGeom prst="ellipse">
                  <a:avLst/>
                </a:prstGeom>
                <a:solidFill>
                  <a:srgbClr val="FFFF00"/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64" name="Ellipszis 63">
                  <a:extLst>
                    <a:ext uri="{FF2B5EF4-FFF2-40B4-BE49-F238E27FC236}">
                      <a16:creationId xmlns:a16="http://schemas.microsoft.com/office/drawing/2014/main" id="{4BAE4B61-6B24-4EA8-B706-C3DA1055B10C}"/>
                    </a:ext>
                  </a:extLst>
                </p:cNvPr>
                <p:cNvSpPr/>
                <p:nvPr/>
              </p:nvSpPr>
              <p:spPr>
                <a:xfrm>
                  <a:off x="7479133" y="1137981"/>
                  <a:ext cx="1728000" cy="17280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62" name="Szövegdoboz 61">
                <a:extLst>
                  <a:ext uri="{FF2B5EF4-FFF2-40B4-BE49-F238E27FC236}">
                    <a16:creationId xmlns:a16="http://schemas.microsoft.com/office/drawing/2014/main" id="{B5F3C0FE-5C86-4D42-8B4E-B861D58FEE64}"/>
                  </a:ext>
                </a:extLst>
              </p:cNvPr>
              <p:cNvSpPr txBox="1"/>
              <p:nvPr/>
            </p:nvSpPr>
            <p:spPr>
              <a:xfrm>
                <a:off x="7535614" y="1481630"/>
                <a:ext cx="1615038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DIESEL 10S</a:t>
                </a:r>
              </a:p>
            </p:txBody>
          </p:sp>
        </p:grpSp>
        <p:grpSp>
          <p:nvGrpSpPr>
            <p:cNvPr id="55" name="Csoportba foglalás 54">
              <a:extLst>
                <a:ext uri="{FF2B5EF4-FFF2-40B4-BE49-F238E27FC236}">
                  <a16:creationId xmlns:a16="http://schemas.microsoft.com/office/drawing/2014/main" id="{E0995AC0-C2AF-4381-87B8-8360893BB9B2}"/>
                </a:ext>
              </a:extLst>
            </p:cNvPr>
            <p:cNvGrpSpPr/>
            <p:nvPr/>
          </p:nvGrpSpPr>
          <p:grpSpPr>
            <a:xfrm>
              <a:off x="5203169" y="1101981"/>
              <a:ext cx="1800000" cy="1800000"/>
              <a:chOff x="5203169" y="1101981"/>
              <a:chExt cx="1800000" cy="1800000"/>
            </a:xfrm>
          </p:grpSpPr>
          <p:grpSp>
            <p:nvGrpSpPr>
              <p:cNvPr id="56" name="Csoportba foglalás 55">
                <a:extLst>
                  <a:ext uri="{FF2B5EF4-FFF2-40B4-BE49-F238E27FC236}">
                    <a16:creationId xmlns:a16="http://schemas.microsoft.com/office/drawing/2014/main" id="{F57E5D7E-63B4-4335-A805-618898AB8DCC}"/>
                  </a:ext>
                </a:extLst>
              </p:cNvPr>
              <p:cNvGrpSpPr/>
              <p:nvPr/>
            </p:nvGrpSpPr>
            <p:grpSpPr>
              <a:xfrm>
                <a:off x="5203169" y="1101981"/>
                <a:ext cx="1800000" cy="1800000"/>
                <a:chOff x="5203169" y="1101981"/>
                <a:chExt cx="1800000" cy="1800000"/>
              </a:xfrm>
            </p:grpSpPr>
            <p:sp>
              <p:nvSpPr>
                <p:cNvPr id="59" name="Ellipszis 58">
                  <a:extLst>
                    <a:ext uri="{FF2B5EF4-FFF2-40B4-BE49-F238E27FC236}">
                      <a16:creationId xmlns:a16="http://schemas.microsoft.com/office/drawing/2014/main" id="{C0D11B03-DDB4-45D0-AFB1-429C35BD59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203169" y="1101981"/>
                  <a:ext cx="1800000" cy="1800000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508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60" name="Ellipszis 59">
                  <a:extLst>
                    <a:ext uri="{FF2B5EF4-FFF2-40B4-BE49-F238E27FC236}">
                      <a16:creationId xmlns:a16="http://schemas.microsoft.com/office/drawing/2014/main" id="{EC9BB975-8FAD-4089-9FA5-2506BA6D22E9}"/>
                    </a:ext>
                  </a:extLst>
                </p:cNvPr>
                <p:cNvSpPr/>
                <p:nvPr/>
              </p:nvSpPr>
              <p:spPr>
                <a:xfrm>
                  <a:off x="5239169" y="1137981"/>
                  <a:ext cx="1728000" cy="172800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57" name="Szövegdoboz 56">
                <a:extLst>
                  <a:ext uri="{FF2B5EF4-FFF2-40B4-BE49-F238E27FC236}">
                    <a16:creationId xmlns:a16="http://schemas.microsoft.com/office/drawing/2014/main" id="{69B4D7DD-9595-46C8-87C2-5503A1C7C030}"/>
                  </a:ext>
                </a:extLst>
              </p:cNvPr>
              <p:cNvSpPr txBox="1"/>
              <p:nvPr/>
            </p:nvSpPr>
            <p:spPr>
              <a:xfrm>
                <a:off x="5531393" y="1955474"/>
                <a:ext cx="114355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4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E10</a:t>
                </a:r>
              </a:p>
            </p:txBody>
          </p:sp>
          <p:sp>
            <p:nvSpPr>
              <p:cNvPr id="58" name="Szövegdoboz 57">
                <a:extLst>
                  <a:ext uri="{FF2B5EF4-FFF2-40B4-BE49-F238E27FC236}">
                    <a16:creationId xmlns:a16="http://schemas.microsoft.com/office/drawing/2014/main" id="{E936DE2F-DD53-4584-AB53-406D8B64608F}"/>
                  </a:ext>
                </a:extLst>
              </p:cNvPr>
              <p:cNvSpPr txBox="1"/>
              <p:nvPr/>
            </p:nvSpPr>
            <p:spPr>
              <a:xfrm>
                <a:off x="5488641" y="1362075"/>
                <a:ext cx="122905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BENZINE</a:t>
                </a:r>
              </a:p>
              <a:p>
                <a:pPr algn="ctr"/>
                <a:r>
                  <a:rPr lang="hu-HU" sz="28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248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4DFFE9-CB87-4C06-AEDB-F76664B6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A jelölések értelmezése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081495-3256-4DB9-B983-63FBA9847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i="1" dirty="0">
                <a:solidFill>
                  <a:srgbClr val="FF0000"/>
                </a:solidFill>
              </a:rPr>
              <a:t>A Magyarországon kapható 95-ös benzinek egységesen E10 jelölést kaptak.</a:t>
            </a:r>
          </a:p>
          <a:p>
            <a:pPr marL="0" indent="0">
              <a:buNone/>
            </a:pPr>
            <a:r>
              <a:rPr lang="hu-HU" dirty="0"/>
              <a:t>Az </a:t>
            </a:r>
            <a:r>
              <a:rPr lang="hu-HU" b="1" dirty="0"/>
              <a:t>E</a:t>
            </a:r>
            <a:r>
              <a:rPr lang="hu-HU" dirty="0"/>
              <a:t> az etanol rövidítése, az </a:t>
            </a:r>
            <a:r>
              <a:rPr lang="hu-HU" b="1" dirty="0"/>
              <a:t>E10</a:t>
            </a:r>
            <a:r>
              <a:rPr lang="hu-HU" dirty="0"/>
              <a:t> pedig azt jelzi, hogy az üzemanyag legfeljebb 10 százalék etanolt tartalmaz.</a:t>
            </a:r>
          </a:p>
          <a:p>
            <a:pPr marL="0" indent="0">
              <a:buNone/>
            </a:pPr>
            <a:r>
              <a:rPr lang="hu-HU" b="1" i="1" dirty="0">
                <a:solidFill>
                  <a:srgbClr val="FF0000"/>
                </a:solidFill>
              </a:rPr>
              <a:t>A dízelt a B7 matrica jelöli.</a:t>
            </a:r>
          </a:p>
          <a:p>
            <a:pPr marL="0" indent="0">
              <a:buNone/>
            </a:pPr>
            <a:r>
              <a:rPr lang="hu-HU" dirty="0"/>
              <a:t>A </a:t>
            </a:r>
            <a:r>
              <a:rPr lang="hu-HU" b="1" dirty="0"/>
              <a:t>B</a:t>
            </a:r>
            <a:r>
              <a:rPr lang="hu-HU" dirty="0"/>
              <a:t> betűs jelölés a </a:t>
            </a:r>
            <a:r>
              <a:rPr lang="hu-HU" dirty="0" err="1"/>
              <a:t>biokomponens</a:t>
            </a:r>
            <a:r>
              <a:rPr lang="hu-HU" dirty="0"/>
              <a:t> tartalomra utal.</a:t>
            </a:r>
          </a:p>
          <a:p>
            <a:pPr marL="0" indent="0">
              <a:buNone/>
            </a:pPr>
            <a:r>
              <a:rPr lang="hu-HU" dirty="0"/>
              <a:t>A benzint a kör, a gázolajat a négyzet, az üzemanyaggázokat pedig a rombusz formájú matrica jelöli.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4695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</Words>
  <Application>Microsoft Office PowerPoint</Application>
  <PresentationFormat>Egyéni</PresentationFormat>
  <Paragraphs>33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Office-téma</vt:lpstr>
      <vt:lpstr>Új európai üzemanyag-jelölések</vt:lpstr>
      <vt:lpstr>Új európai üzemanyag-jelölések</vt:lpstr>
      <vt:lpstr>PowerPoint-bemutató</vt:lpstr>
      <vt:lpstr>PowerPoint-bemutató</vt:lpstr>
      <vt:lpstr>A jelölések értelmezése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2023-01-15T12:35:53Z</dcterms:created>
  <dcterms:modified xsi:type="dcterms:W3CDTF">2023-01-25T07:24:12Z</dcterms:modified>
</cp:coreProperties>
</file>